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09" autoAdjust="0"/>
  </p:normalViewPr>
  <p:slideViewPr>
    <p:cSldViewPr snapToGrid="0" snapToObjects="1">
      <p:cViewPr varScale="1">
        <p:scale>
          <a:sx n="95" d="100"/>
          <a:sy n="95" d="100"/>
        </p:scale>
        <p:origin x="114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7408-EC34-A0C4-070F-304B0DC2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F6552-F63C-64F6-77BF-B608156C6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0A576-AD96-7D2E-6DC1-6D827FF83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3D80C-F3D7-167A-D6F0-9982AB7AA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92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7109" y="1778000"/>
            <a:ext cx="11157783" cy="245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>Resolution Bias and Cross-Generator Detection of AI-Generated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8480" y="4826000"/>
            <a:ext cx="6035040" cy="419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Noa Keter  ·  Ido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Josephsberg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8480" y="5431536"/>
            <a:ext cx="6035040" cy="314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b="0" i="0">
                <a:solidFill>
                  <a:srgbClr val="C4CBDC"/>
                </a:solidFill>
                <a:latin typeface="Calibri"/>
              </a:rPr>
              <a:t>Lecturer: Dr. Shay Maymon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8480" y="5919216"/>
            <a:ext cx="6035040" cy="312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lang="en-US" dirty="0">
                <a:solidFill>
                  <a:srgbClr val="C4CBDC"/>
                </a:solidFill>
                <a:latin typeface="Consolas"/>
              </a:rPr>
              <a:t>github.com/Ido-Josephsberg/deep-learning</a:t>
            </a:r>
            <a:endParaRPr b="0" i="0" dirty="0">
              <a:solidFill>
                <a:srgbClr val="C4CBD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 dirty="0">
                <a:solidFill>
                  <a:srgbClr val="141A2E"/>
                </a:solidFill>
                <a:latin typeface="Cambria"/>
              </a:rPr>
              <a:t>A detector that looks excellent, until the generator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6446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E3A59"/>
                </a:solidFill>
                <a:latin typeface="Calibri"/>
              </a:rPr>
              <a:t>Train a CNN to separate real photographs from images made by one generator, and it scores almost perfectly on that generator. Point it at a generator it has never seen and the accuracy falls off a cliff.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18688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3127248"/>
            <a:ext cx="60624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The question this project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456432"/>
            <a:ext cx="6062472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How much of that in-distribution success reflects the generative process,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and how much reflects the way the benchmark was built?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81727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4590288"/>
            <a:ext cx="60624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This gap is the published pattern, not our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919472"/>
            <a:ext cx="6062472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What is ours is the explanation — and it is not about the generators.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29968"/>
            <a:ext cx="2084831" cy="162763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6096" y="2212848"/>
            <a:ext cx="1645919" cy="846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 dirty="0">
                <a:solidFill>
                  <a:srgbClr val="1C7293"/>
                </a:solidFill>
                <a:latin typeface="Cambria"/>
              </a:rPr>
              <a:t>0.908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925165"/>
            <a:ext cx="1719072" cy="651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same generator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in-domain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2368" y="2029968"/>
            <a:ext cx="2084831" cy="162763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21824" y="2212848"/>
            <a:ext cx="1645919" cy="846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 dirty="0">
                <a:solidFill>
                  <a:srgbClr val="D9484E"/>
                </a:solidFill>
                <a:latin typeface="Cambria"/>
              </a:rPr>
              <a:t>0.655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2925165"/>
            <a:ext cx="1719072" cy="651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unseen generator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cross-generator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785615"/>
            <a:ext cx="44805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6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370832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4572000"/>
            <a:ext cx="411480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0" i="0" dirty="0">
                <a:solidFill>
                  <a:srgbClr val="2E3A59"/>
                </a:solidFill>
                <a:latin typeface="Calibri"/>
              </a:rPr>
              <a:t>a 25-point drop, from one change:</a:t>
            </a:r>
          </a:p>
          <a:p>
            <a:pPr algn="ctr">
              <a:lnSpc>
                <a:spcPct val="124000"/>
              </a:lnSpc>
            </a:pPr>
            <a:r>
              <a:rPr sz="1350" b="0" i="0" dirty="0">
                <a:solidFill>
                  <a:srgbClr val="2E3A59"/>
                </a:solidFill>
                <a:latin typeface="Calibri"/>
              </a:rPr>
              <a:t>the generator at test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44982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 dirty="0" err="1">
                <a:solidFill>
                  <a:srgbClr val="6B7691"/>
                </a:solidFill>
                <a:latin typeface="Calibri"/>
              </a:rPr>
              <a:t>center_crop</a:t>
            </a:r>
            <a:r>
              <a:rPr sz="1100" b="0" i="0" dirty="0">
                <a:solidFill>
                  <a:srgbClr val="6B7691"/>
                </a:solidFill>
                <a:latin typeface="Calibri"/>
              </a:rPr>
              <a:t> arm, mean of two seeds, n = 1,000 balanced images per cell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MOTIVATIO</a:t>
            </a:r>
            <a:r>
              <a:rPr lang="en-US" sz="1200" b="1" i="0" spc="180" dirty="0">
                <a:solidFill>
                  <a:srgbClr val="D9484E"/>
                </a:solidFill>
                <a:latin typeface="Calibri"/>
              </a:rPr>
              <a:t>N</a:t>
            </a:r>
            <a:endParaRPr sz="1200" b="1" i="0" spc="180" dirty="0">
              <a:solidFill>
                <a:srgbClr val="D9484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141A2E"/>
                </a:solidFill>
                <a:latin typeface="Cambria"/>
              </a:rPr>
              <a:t>Every generator emits one fixed size. Real photographs do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773936"/>
            <a:ext cx="1846992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97968" y="1773936"/>
            <a:ext cx="110075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BigGAN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4758" y="1773936"/>
            <a:ext cx="2254029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ADM  GLIDE  VQDM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4820" y="1773936"/>
            <a:ext cx="171131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SD 1.5  Wukong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2166" y="1773936"/>
            <a:ext cx="1304276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Midjourney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2474" y="1773936"/>
            <a:ext cx="1304276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84832"/>
            <a:ext cx="11057839" cy="47548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084832"/>
            <a:ext cx="18469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Native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7968" y="2084832"/>
            <a:ext cx="110075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128²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4758" y="2084832"/>
            <a:ext cx="22540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256²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4820" y="2084832"/>
            <a:ext cx="171131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512²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2166" y="2084832"/>
            <a:ext cx="13042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1024²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2474" y="2084832"/>
            <a:ext cx="13042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34640"/>
            <a:ext cx="65379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 dirty="0">
                <a:solidFill>
                  <a:srgbClr val="2E3A59"/>
                </a:solidFill>
                <a:latin typeface="Calibri"/>
              </a:rPr>
              <a:t>So the dimensions alone identify both the class and the generator. A detector can score well without ever examining pixel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85615"/>
            <a:ext cx="653796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986784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 spc="60" dirty="0">
                <a:solidFill>
                  <a:srgbClr val="6B7691"/>
                </a:solidFill>
                <a:latin typeface="Calibri"/>
              </a:rPr>
              <a:t>The shortcut, made explicit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52544"/>
            <a:ext cx="5989320" cy="63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 dirty="0">
                <a:solidFill>
                  <a:srgbClr val="141A2E"/>
                </a:solidFill>
                <a:latin typeface="Calibri"/>
              </a:rPr>
              <a:t>Predict synthetic whenever the image is square.</a:t>
            </a:r>
          </a:p>
          <a:p>
            <a:pPr algn="l">
              <a:lnSpc>
                <a:spcPct val="134000"/>
              </a:lnSpc>
            </a:pPr>
            <a:r>
              <a:rPr sz="1600" b="0" i="0" dirty="0">
                <a:solidFill>
                  <a:srgbClr val="141A2E"/>
                </a:solidFill>
                <a:latin typeface="Calibri"/>
              </a:rPr>
              <a:t>Zero parameters. No training. No pixels</a:t>
            </a:r>
            <a:r>
              <a:rPr lang="en-US" sz="1600" b="0" i="0" dirty="0">
                <a:solidFill>
                  <a:srgbClr val="141A2E"/>
                </a:solidFill>
                <a:latin typeface="Calibri"/>
              </a:rPr>
              <a:t> analysis.</a:t>
            </a:r>
            <a:endParaRPr sz="1600" b="0" i="0" dirty="0">
              <a:solidFill>
                <a:srgbClr val="141A2E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71231" y="2889504"/>
            <a:ext cx="4041648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3072384"/>
            <a:ext cx="3602736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D9484E"/>
                </a:solidFill>
                <a:latin typeface="Cambria"/>
              </a:rPr>
              <a:t>0.977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3895344"/>
            <a:ext cx="3675887" cy="655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 dirty="0">
                <a:solidFill>
                  <a:srgbClr val="6B7691"/>
                </a:solidFill>
                <a:latin typeface="Calibri"/>
              </a:rPr>
              <a:t>accuracy on every one of the 49</a:t>
            </a:r>
          </a:p>
          <a:p>
            <a:pPr algn="ctr">
              <a:lnSpc>
                <a:spcPct val="116000"/>
              </a:lnSpc>
            </a:pPr>
            <a:r>
              <a:rPr sz="1250" b="0" i="0" dirty="0">
                <a:solidFill>
                  <a:srgbClr val="6B7691"/>
                </a:solidFill>
                <a:latin typeface="Calibri"/>
              </a:rPr>
              <a:t>source → target pairs</a:t>
            </a:r>
            <a:endParaRPr lang="en-US" sz="1250" b="0" i="0" dirty="0">
              <a:solidFill>
                <a:srgbClr val="6B7691"/>
              </a:solidFill>
              <a:latin typeface="Calibri"/>
            </a:endParaRPr>
          </a:p>
          <a:p>
            <a:pPr algn="ctr">
              <a:lnSpc>
                <a:spcPct val="116000"/>
              </a:lnSpc>
            </a:pPr>
            <a:r>
              <a:rPr lang="en-US" sz="1250" dirty="0">
                <a:solidFill>
                  <a:srgbClr val="6B7691"/>
                </a:solidFill>
                <a:latin typeface="Calibri"/>
              </a:rPr>
              <a:t>Simple square rule results</a:t>
            </a:r>
            <a:endParaRPr sz="1250" b="0" i="0" dirty="0">
              <a:solidFill>
                <a:srgbClr val="6B769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71231" y="4901184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Higher than the cross-generator accuracy</a:t>
            </a:r>
          </a:p>
          <a:p>
            <a:pPr algn="ctr">
              <a:lnSpc>
                <a:spcPct val="126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of every trained detector in this talk.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Removing the cue is not a neutral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8528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6976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The fingerprint is high-frequency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176272"/>
            <a:ext cx="69768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Cropping discards context. Rescaling attenuates the very frequencies that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carry the signal. Padding introduces a border of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41985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3328416"/>
            <a:ext cx="6976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Prior work applies one correction and reports the corrected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57600"/>
            <a:ext cx="69768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C4CBDC"/>
                </a:solidFill>
                <a:latin typeface="Calibri"/>
              </a:rPr>
              <a:t>It does not ask whether the choice of correction changes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0118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4809744"/>
            <a:ext cx="6976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We make the correction itself the experimental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138928"/>
            <a:ext cx="69768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One architecture, one dataset, one protocol, four ways of equalizing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71216"/>
            <a:ext cx="3310128" cy="1700784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3108960"/>
            <a:ext cx="287121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Do the conclusions</a:t>
            </a:r>
          </a:p>
          <a:p>
            <a:pPr algn="ctr">
              <a:lnSpc>
                <a:spcPct val="12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survive that choice?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4041648"/>
            <a:ext cx="28712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 i="0">
                <a:solidFill>
                  <a:srgbClr val="D9484E"/>
                </a:solidFill>
                <a:latin typeface="Cambria"/>
              </a:rPr>
              <a:t>They do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Three papers, and where we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932688" cy="56692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932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19072"/>
            <a:ext cx="9464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Wang et al.  —  CNN-generated images are surprisingly easy to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66544"/>
            <a:ext cx="9464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 dirty="0">
                <a:solidFill>
                  <a:srgbClr val="2E3A59"/>
                </a:solidFill>
                <a:latin typeface="Calibri"/>
              </a:rPr>
              <a:t>Established the pattern: easy in-distribution, uneven transfer to unseen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16352"/>
            <a:ext cx="932688" cy="56692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816352"/>
            <a:ext cx="932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34640"/>
            <a:ext cx="9464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GenImage  —  a million-scale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82112"/>
            <a:ext cx="9464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Scaled the question and formalized the cross-generator protocol we adopt: train on one generator, evaluate on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31920"/>
            <a:ext cx="932688" cy="566928"/>
          </a:xfrm>
          <a:prstGeom prst="roundRect">
            <a:avLst>
              <a:gd name="adj" fmla="val 6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931920"/>
            <a:ext cx="932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50207"/>
            <a:ext cx="9464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Grommelt et al.  —  Fake or JPEG?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97680"/>
            <a:ext cx="9464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Showed GenImage carries two construction artifacts, JPEG compression and image size. Removing both adds &gt;11 points cross-generator.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8928"/>
            <a:ext cx="11057839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5321808"/>
            <a:ext cx="10509199" cy="522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 dirty="0">
                <a:solidFill>
                  <a:srgbClr val="141A2E"/>
                </a:solidFill>
                <a:latin typeface="Calibri"/>
              </a:rPr>
              <a:t>We take the size bias as established and begin where that work stops. It corrects the bias once, by a single mechanism. Our claim is different: the correction is itself a free parameter, and it </a:t>
            </a:r>
            <a:r>
              <a:rPr lang="en-US" sz="1400" b="0" i="0" dirty="0">
                <a:solidFill>
                  <a:srgbClr val="141A2E"/>
                </a:solidFill>
                <a:latin typeface="Calibri"/>
              </a:rPr>
              <a:t>changes </a:t>
            </a:r>
            <a:r>
              <a:rPr lang="en-US" sz="1400" dirty="0">
                <a:solidFill>
                  <a:srgbClr val="141A2E"/>
                </a:solidFill>
                <a:latin typeface="Calibri"/>
              </a:rPr>
              <a:t>the </a:t>
            </a:r>
            <a:r>
              <a:rPr sz="1400" b="0" i="0" dirty="0">
                <a:solidFill>
                  <a:srgbClr val="141A2E"/>
                </a:solidFill>
                <a:latin typeface="Calibri"/>
              </a:rPr>
              <a:t>published </a:t>
            </a:r>
            <a:r>
              <a:rPr lang="en-US" sz="1400" b="0" i="0" dirty="0">
                <a:solidFill>
                  <a:srgbClr val="141A2E"/>
                </a:solidFill>
                <a:latin typeface="Calibri"/>
              </a:rPr>
              <a:t>results</a:t>
            </a:r>
            <a:r>
              <a:rPr sz="1400" b="0" i="0" dirty="0">
                <a:solidFill>
                  <a:srgbClr val="141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METHOD  ·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Tiny-GenImage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883664"/>
            <a:ext cx="2176272" cy="789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 dirty="0">
                <a:solidFill>
                  <a:srgbClr val="141A2E"/>
                </a:solidFill>
                <a:latin typeface="Cambria"/>
              </a:rPr>
              <a:t>35,000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35631"/>
            <a:ext cx="2249424" cy="607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images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8.4 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21024" y="1883664"/>
            <a:ext cx="2176272" cy="789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535631"/>
            <a:ext cx="2249424" cy="607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generators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2,500 images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883664"/>
            <a:ext cx="2176272" cy="789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17,500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35631"/>
            <a:ext cx="2249424" cy="607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real ImageNet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photographs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0304" y="1883664"/>
            <a:ext cx="2176272" cy="789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 dirty="0">
                <a:solidFill>
                  <a:srgbClr val="1C7293"/>
                </a:solidFill>
                <a:latin typeface="Cambria"/>
              </a:rPr>
              <a:t>1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535631"/>
            <a:ext cx="2249424" cy="607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 dirty="0">
                <a:solidFill>
                  <a:srgbClr val="6B7691"/>
                </a:solidFill>
                <a:latin typeface="Calibri"/>
              </a:rPr>
              <a:t>generators is PNG</a:t>
            </a:r>
          </a:p>
          <a:p>
            <a:pPr algn="ctr">
              <a:lnSpc>
                <a:spcPct val="116000"/>
              </a:lnSpc>
            </a:pPr>
            <a:r>
              <a:rPr sz="1250" b="0" i="0" dirty="0">
                <a:solidFill>
                  <a:srgbClr val="6B7691"/>
                </a:solidFill>
                <a:latin typeface="Calibri"/>
              </a:rPr>
              <a:t>the rest are JPEG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10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529584"/>
            <a:ext cx="10673791" cy="279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600" b="1" i="0" dirty="0">
                <a:solidFill>
                  <a:srgbClr val="141A2E"/>
                </a:solidFill>
                <a:latin typeface="Calibri"/>
              </a:rPr>
              <a:t>Format cannot separate real from fake here, except in one row</a:t>
            </a:r>
            <a:endParaRPr sz="1600" b="1" i="0" dirty="0">
              <a:solidFill>
                <a:srgbClr val="141A2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" y="3858768"/>
            <a:ext cx="10673791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L" sz="1400" dirty="0"/>
              <a:t>Real photos and six of seven generators are JPEG, so </a:t>
            </a:r>
            <a:r>
              <a:rPr lang="en-IL" sz="1400" dirty="0" err="1"/>
              <a:t>GenImage's</a:t>
            </a:r>
            <a:r>
              <a:rPr lang="en-IL" sz="1400" dirty="0"/>
              <a:t> format bias is not available as a shortcut. It survives only for ADM, which we return to. Size is the confound we set out to study.</a:t>
            </a:r>
            <a:endParaRPr sz="1400" b="0" i="0" dirty="0">
              <a:solidFill>
                <a:srgbClr val="2E3A59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453542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443983"/>
            <a:ext cx="10673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Splits, and why no reported number ever influenced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773168"/>
            <a:ext cx="1067379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3,600 train / 400 validation per run, from the shipped train split. The shipped validation split is held out as our test set: 4,000 images. Model selection uses the internal validation set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44982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5358383"/>
            <a:ext cx="10673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Every matrix cell is exactly balanced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687568"/>
            <a:ext cx="1067379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500 target fakes + the same fixed 500 real images, so n = 1,000 and accuracy is directly interpretable. Binomial standard error ±1.6 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METHOD  · 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Four ways to make every image 128 ×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91056"/>
            <a:ext cx="11057839" cy="244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 dirty="0">
                <a:solidFill>
                  <a:srgbClr val="2E3A59"/>
                </a:solidFill>
                <a:latin typeface="Calibri"/>
              </a:rPr>
              <a:t>The first two preserve native pixel statistics and discard content. The last two resample</a:t>
            </a:r>
            <a:r>
              <a:rPr lang="en-US" sz="1400" b="0" i="0" dirty="0">
                <a:solidFill>
                  <a:srgbClr val="2E3A59"/>
                </a:solidFill>
                <a:latin typeface="Calibri"/>
              </a:rPr>
              <a:t>. </a:t>
            </a:r>
            <a:endParaRPr sz="1400" b="0" i="0" dirty="0">
              <a:solidFill>
                <a:srgbClr val="2E3A59"/>
              </a:solidFill>
              <a:latin typeface="Calibri"/>
            </a:endParaRPr>
          </a:p>
        </p:txBody>
      </p:sp>
      <p:pic>
        <p:nvPicPr>
          <p:cNvPr id="5" name="Picture 4" descr="strategie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87" y="1956816"/>
            <a:ext cx="105959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METHOD  ·  MODEL +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One architecture, held fixed, 56 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22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1700784"/>
            <a:ext cx="6291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Compact CNN, 1.17 M parameters, trained from scratch in PyTorch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29968"/>
            <a:ext cx="62910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2E3A59"/>
                </a:solidFill>
                <a:latin typeface="Calibri"/>
              </a:rPr>
              <a:t>Four blocks of [Conv 3×3, </a:t>
            </a:r>
            <a:r>
              <a:rPr sz="1400" b="0" i="0" dirty="0" err="1">
                <a:solidFill>
                  <a:srgbClr val="2E3A59"/>
                </a:solidFill>
                <a:latin typeface="Calibri"/>
              </a:rPr>
              <a:t>BatchNorm</a:t>
            </a:r>
            <a:r>
              <a:rPr sz="1400" b="0" i="0" dirty="0">
                <a:solidFill>
                  <a:srgbClr val="2E3A59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E3A59"/>
                </a:solidFill>
                <a:latin typeface="Calibri"/>
              </a:rPr>
              <a:t>ReLU</a:t>
            </a:r>
            <a:r>
              <a:rPr sz="1400" b="0" i="0" dirty="0">
                <a:solidFill>
                  <a:srgbClr val="2E3A59"/>
                </a:solidFill>
                <a:latin typeface="Calibri"/>
              </a:rPr>
              <a:t>] ×2 then 2×2 max-pool, widths 32/64/128/256, global average pooling, dropout 0.3, one linear unit.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2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816352"/>
            <a:ext cx="6291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From scratch is required, not stylistic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45536"/>
            <a:ext cx="62910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The real class is ImageNet. An ImageNet-pretrained backbone would arrive having already seen the negative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3359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931920"/>
            <a:ext cx="6291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Two choices follow from the nature of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261104"/>
            <a:ext cx="62910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Nothing downsamples before the end of block one, because the cue is high-frequency. The head is global average pooling, because the evidence is a location-free texture statistic.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4" y="1773936"/>
            <a:ext cx="144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0936" y="1773936"/>
            <a:ext cx="21530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2011680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4384" y="2011680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0936" y="2011680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AdamW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368296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0936" y="2368296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3×10⁻⁴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724912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4" y="2724912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Weight decay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0936" y="2724912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1×10⁻⁴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3081528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0936" y="3081528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cosine to 0,  40 epochs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3438144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4" y="3438144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Batch / 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0936" y="3438144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128,  AMP float16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3794760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0936" y="3794760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horizontal flip, p = 0.5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16368" y="4151376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44384" y="4151376"/>
            <a:ext cx="14405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0936" y="4151376"/>
            <a:ext cx="215307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best internal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8" y="4626864"/>
            <a:ext cx="4105656" cy="1170432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17536" y="4791456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C4CBDC"/>
                </a:solidFill>
                <a:latin typeface="Calibri"/>
              </a:rPr>
              <a:t>4 strategies  ×  7 sources  ×  2 seeds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5120640"/>
            <a:ext cx="3703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56 runs   ·   ~2 GPU-hours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5907024"/>
            <a:ext cx="4105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7691"/>
                </a:solidFill>
                <a:latin typeface="Calibri"/>
              </a:rPr>
              <a:t>free-tier Colab T4,  127 s per run,  each evaluated on all seven targets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every trained detector is competing against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83664"/>
            <a:ext cx="3547872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2066544"/>
            <a:ext cx="3108960" cy="10746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D9484E"/>
                </a:solidFill>
                <a:latin typeface="Cambria"/>
              </a:rPr>
              <a:t>0.977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20263"/>
            <a:ext cx="3182112" cy="82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square rule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the same score on all 49 cells,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diagonal and off-diagonal alike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83664"/>
            <a:ext cx="3547872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2066544"/>
            <a:ext cx="3108960" cy="10746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8A33D"/>
                </a:solidFill>
                <a:latin typeface="Cambria"/>
              </a:rPr>
              <a:t>1.000 / 0.619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3020263"/>
            <a:ext cx="3182112" cy="82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size-lookup rule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diagonal / off-diagonal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83664"/>
            <a:ext cx="3538728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221284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Neither rule measures</a:t>
            </a:r>
          </a:p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anything about the</a:t>
            </a:r>
          </a:p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generative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255264"/>
            <a:ext cx="30998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This is the shortcut every</a:t>
            </a:r>
          </a:p>
          <a:p>
            <a:pPr algn="ctr">
              <a:lnSpc>
                <a:spcPct val="122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trained detector competes against.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5254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4261104"/>
            <a:ext cx="10673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Why the square rule works: TPR 1.000, TNR 0.954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590288"/>
            <a:ext cx="1067379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Every generated image in this dataset is square, and 95.4 % of real photographs are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85231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5193792"/>
            <a:ext cx="10673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size-lookup rule exposes the mechanism exactly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522976"/>
            <a:ext cx="1067379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C4CBDC"/>
                </a:solidFill>
                <a:latin typeface="Calibri"/>
              </a:rPr>
              <a:t>It scores 1.000 whenever source and target share a native resolution and exactly 0.500 whenever they do not</a:t>
            </a:r>
            <a:r>
              <a:rPr lang="en-US" sz="1400" dirty="0">
                <a:solidFill>
                  <a:srgbClr val="C4CBDC"/>
                </a:solidFill>
                <a:latin typeface="Calibri"/>
              </a:rPr>
              <a:t>,</a:t>
            </a:r>
            <a:r>
              <a:rPr sz="1400" b="0" i="0" dirty="0">
                <a:solidFill>
                  <a:srgbClr val="C4CBDC"/>
                </a:solidFill>
                <a:latin typeface="Calibri"/>
              </a:rPr>
              <a:t> in 47 of 49 cells. The two exceptions trace to a single 512² Midjourney 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Four corrections, four different pictures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2E3A59"/>
                </a:solidFill>
                <a:latin typeface="Calibri"/>
              </a:rPr>
              <a:t>Rows are the generator a detector trained on, columns the generator it was evaluated on. Two seeds, n = 1,000 per cell, one shared color scale.</a:t>
            </a:r>
          </a:p>
        </p:txBody>
      </p:sp>
      <p:pic>
        <p:nvPicPr>
          <p:cNvPr id="5" name="Picture 4" descr="transfer_matric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93392"/>
            <a:ext cx="11057839" cy="33457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413248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5632704"/>
            <a:ext cx="10509199" cy="51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 i="0" dirty="0">
                <a:solidFill>
                  <a:srgbClr val="141A2E"/>
                </a:solidFill>
                <a:latin typeface="Calibri"/>
              </a:rPr>
              <a:t>The diagonals are broadly similar 90.8, 89.2, 90.2. The off-diagonal structure is not, and that difference is the result. ADM's row is the clearest case: strong under both crops, at chance under rescale</a:t>
            </a:r>
            <a:r>
              <a:rPr lang="en-US" sz="1400" b="0" i="0" dirty="0">
                <a:solidFill>
                  <a:srgbClr val="141A2E"/>
                </a:solidFill>
                <a:latin typeface="Calibri"/>
              </a:rPr>
              <a:t> and pad</a:t>
            </a:r>
            <a:r>
              <a:rPr sz="1400" b="0" i="0" dirty="0">
                <a:solidFill>
                  <a:srgbClr val="141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RESULTS  ·  THE 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>
                <a:solidFill>
                  <a:srgbClr val="141A2E"/>
                </a:solidFill>
                <a:latin typeface="Cambria"/>
              </a:rPr>
              <a:t>The ranking does not survive the correction</a:t>
            </a:r>
          </a:p>
        </p:txBody>
      </p:sp>
      <p:pic>
        <p:nvPicPr>
          <p:cNvPr id="4" name="Picture 3" descr="ranking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5920"/>
            <a:ext cx="7461504" cy="32587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47888" y="1700784"/>
            <a:ext cx="3383280" cy="13167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67344" y="1883664"/>
            <a:ext cx="2944368" cy="6847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C7293"/>
                </a:solidFill>
                <a:latin typeface="Cambria"/>
              </a:rPr>
              <a:t>ρ = +0.964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7" y="2424988"/>
            <a:ext cx="3017520" cy="526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the two non-resampling arms agree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 = 0.003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3145536"/>
            <a:ext cx="3383280" cy="13167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3328416"/>
            <a:ext cx="2944368" cy="6847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484E"/>
                </a:solidFill>
                <a:latin typeface="Cambria"/>
              </a:rPr>
              <a:t>ρ = 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7" y="3869740"/>
            <a:ext cx="3017520" cy="526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rescale retains none of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that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4590288"/>
            <a:ext cx="3383280" cy="1481328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6" y="4773168"/>
            <a:ext cx="2980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 spc="60">
                <a:solidFill>
                  <a:srgbClr val="C4CBDC"/>
                </a:solidFill>
                <a:latin typeface="Calibri"/>
              </a:rPr>
              <a:t>ADM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5102352"/>
            <a:ext cx="29809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2500" b="1" i="0">
                <a:solidFill>
                  <a:srgbClr val="FFFFFF"/>
                </a:solidFill>
                <a:latin typeface="Cambria"/>
              </a:rPr>
              <a:t>1st  →  7th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5596128"/>
            <a:ext cx="29809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best source under both crops,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worst under rescaling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42432"/>
            <a:ext cx="7461504" cy="51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 i="0" dirty="0">
                <a:solidFill>
                  <a:srgbClr val="141A2E"/>
                </a:solidFill>
                <a:latin typeface="Calibri"/>
              </a:rPr>
              <a:t>Two papers using the same data, architecture and protocol would disagree about which generator is hardest</a:t>
            </a:r>
            <a:r>
              <a:rPr lang="en-US" sz="1400" b="1" i="0" dirty="0">
                <a:solidFill>
                  <a:srgbClr val="141A2E"/>
                </a:solidFill>
                <a:latin typeface="Calibri"/>
              </a:rPr>
              <a:t>,</a:t>
            </a:r>
            <a:r>
              <a:rPr sz="1400" b="1" i="0" dirty="0">
                <a:solidFill>
                  <a:srgbClr val="141A2E"/>
                </a:solidFill>
                <a:latin typeface="Calibri"/>
              </a:rPr>
              <a:t> purely because one rescaled and the other cropped.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D9484E"/>
                </a:solidFill>
                <a:latin typeface="Cambria"/>
              </a:rPr>
              <a:t>pad scores highest — and that is the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Every generator is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so padding changes nothing for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9689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52928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80944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Only real photos get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28416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variable aspect ratio, so they alone are padded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49039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05072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133087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The border becomes a perfect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border ⇔ real, learnable in a few epochs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700784"/>
            <a:ext cx="4206240" cy="148132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6096" y="1883664"/>
            <a:ext cx="3767327" cy="770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B7691"/>
                </a:solidFill>
                <a:latin typeface="Cambria"/>
              </a:rPr>
              <a:t>0.977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515514"/>
            <a:ext cx="3840479" cy="592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where a pure border-reader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would ceiling:  (1.000 + 0.954) /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310128"/>
            <a:ext cx="4206240" cy="129844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3493008"/>
            <a:ext cx="3767327" cy="675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D9484E"/>
                </a:solidFill>
                <a:latin typeface="Cambria"/>
              </a:rPr>
              <a:t>0.978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4024274"/>
            <a:ext cx="3840479" cy="519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pad's measured diagonal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773168"/>
            <a:ext cx="4206240" cy="1316736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6096" y="4937760"/>
            <a:ext cx="3767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C4CBDC"/>
                </a:solidFill>
                <a:latin typeface="Calibri"/>
              </a:rPr>
              <a:t>Corroboration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5230368"/>
            <a:ext cx="37673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Sharing a native resolution helps transfer by</a:t>
            </a:r>
          </a:p>
          <a:p>
            <a:pPr algn="l">
              <a:lnSpc>
                <a:spcPct val="124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+0.113, +0.113, +0.135 in the other three arms</a:t>
            </a:r>
          </a:p>
          <a:p>
            <a:pPr algn="l">
              <a:lnSpc>
                <a:spcPct val="124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— but only +0.007 for pad.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66944"/>
            <a:ext cx="6446520" cy="530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 dirty="0">
                <a:solidFill>
                  <a:srgbClr val="D9484E"/>
                </a:solidFill>
                <a:latin typeface="Calibri"/>
              </a:rPr>
              <a:t>Higher accuracy here marks a worse experiment, not a better detector. Padding does not remove the size confound</a:t>
            </a:r>
            <a:r>
              <a:rPr lang="en-US" sz="1400" b="1" i="0" dirty="0">
                <a:solidFill>
                  <a:srgbClr val="D9484E"/>
                </a:solidFill>
                <a:latin typeface="Calibri"/>
              </a:rPr>
              <a:t>,</a:t>
            </a:r>
            <a:r>
              <a:rPr sz="1400" b="1" i="0" dirty="0">
                <a:solidFill>
                  <a:srgbClr val="D9484E"/>
                </a:solidFill>
                <a:latin typeface="Calibri"/>
              </a:rPr>
              <a:t> it re-encodes it as a visible border.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The model really is reading its border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 dirty="0">
                <a:solidFill>
                  <a:srgbClr val="2E3A59"/>
                </a:solidFill>
                <a:latin typeface="Calibri"/>
              </a:rPr>
              <a:t>Input-gradient saliency, 200 images per tag, seed 0. Border mass is the fraction of the mean saliency map falling in the outer 16-pixel ring</a:t>
            </a:r>
            <a:r>
              <a:rPr lang="en-US" sz="1350" b="0" i="0" dirty="0">
                <a:solidFill>
                  <a:srgbClr val="2E3A59"/>
                </a:solidFill>
                <a:latin typeface="Calibri"/>
              </a:rPr>
              <a:t>,</a:t>
            </a:r>
            <a:r>
              <a:rPr sz="1350" b="0" i="0" dirty="0">
                <a:solidFill>
                  <a:srgbClr val="2E3A59"/>
                </a:solidFill>
                <a:latin typeface="Calibri"/>
              </a:rPr>
              <a:t> against a uniform null of 0.4375.</a:t>
            </a:r>
          </a:p>
        </p:txBody>
      </p:sp>
      <p:pic>
        <p:nvPicPr>
          <p:cNvPr id="5" name="Picture 4" descr="attribution_border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57984"/>
            <a:ext cx="6547104" cy="19495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4928" y="2194560"/>
            <a:ext cx="104516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26126" y="2194560"/>
            <a:ext cx="66030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2464" y="2194560"/>
            <a:ext cx="9352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Generators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3702" y="2194560"/>
            <a:ext cx="66030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Real 1st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2487168"/>
            <a:ext cx="4325112" cy="4023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4928" y="2487168"/>
            <a:ext cx="104516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center_crop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6126" y="2487168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0.4345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2464" y="2487168"/>
            <a:ext cx="93520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0.4243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3702" y="2487168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889503"/>
            <a:ext cx="104516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random_crop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6126" y="2889503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2464" y="2889503"/>
            <a:ext cx="93520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0.4175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3702" y="2889503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 of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3291839"/>
            <a:ext cx="4325112" cy="4023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4928" y="3291839"/>
            <a:ext cx="104516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rescale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6126" y="3291839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0.3793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2464" y="3291839"/>
            <a:ext cx="93520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0.3721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3702" y="3291839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694176"/>
            <a:ext cx="104516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6126" y="3694176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0.5613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2464" y="3694176"/>
            <a:ext cx="93520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3702" y="3694176"/>
            <a:ext cx="66030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7 of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6912" y="4114800"/>
            <a:ext cx="4325112" cy="1773936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8" y="4297680"/>
            <a:ext cx="3886200" cy="227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All 7 pad runs sit above all 21 others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16368" y="4645152"/>
            <a:ext cx="3886200" cy="1047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C4CBDC"/>
                </a:solidFill>
                <a:latin typeface="Calibri"/>
              </a:rPr>
              <a:t>Every pad run exceeds +0.11 over its own generator mean. No run in any other arm reaches +0.04.</a:t>
            </a:r>
          </a:p>
          <a:p>
            <a:pPr algn="l">
              <a:lnSpc>
                <a:spcPct val="120000"/>
              </a:lnSpc>
            </a:pPr>
            <a:endParaRPr sz="1150" b="0" i="0" dirty="0">
              <a:solidFill>
                <a:srgbClr val="C4CBDC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C4CBDC"/>
                </a:solidFill>
                <a:latin typeface="Calibri"/>
              </a:rPr>
              <a:t>Padding does not raise edge saliency in general</a:t>
            </a:r>
            <a:r>
              <a:rPr lang="en-US" sz="1150" b="0" i="0" dirty="0">
                <a:solidFill>
                  <a:srgbClr val="C4CBDC"/>
                </a:solidFill>
                <a:latin typeface="Calibri"/>
              </a:rPr>
              <a:t>,</a:t>
            </a:r>
            <a:r>
              <a:rPr sz="1150" b="0" i="0" dirty="0">
                <a:solidFill>
                  <a:srgbClr val="C4CBDC"/>
                </a:solidFill>
                <a:latin typeface="Calibri"/>
              </a:rPr>
              <a:t> only the class that receives a border is affected.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718304"/>
            <a:ext cx="6547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 i="0">
                <a:solidFill>
                  <a:srgbClr val="141A2E"/>
                </a:solidFill>
                <a:latin typeface="Calibri"/>
              </a:rPr>
              <a:t>This confirms from inside the model what the accuracies alone could only imply.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413248"/>
            <a:ext cx="6547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 dirty="0">
                <a:solidFill>
                  <a:srgbClr val="6B7691"/>
                </a:solidFill>
                <a:latin typeface="Calibri"/>
              </a:rPr>
              <a:t>rescale also draws on the most centrally concentrated evidence of the four arms, 0.373 against 0.419 to 0.430.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76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 dirty="0">
                <a:solidFill>
                  <a:srgbClr val="141A2E"/>
                </a:solidFill>
                <a:latin typeface="Cambria"/>
              </a:rPr>
              <a:t>Not an undertrained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6B7691"/>
                </a:solidFill>
                <a:latin typeface="Calibri"/>
              </a:rPr>
              <a:t>Is the weak transfer simply a small network trained badly?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651" y="2139696"/>
            <a:ext cx="24966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24752" y="2139696"/>
            <a:ext cx="15353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542" y="2139696"/>
            <a:ext cx="24966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In-domain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1644" y="2139696"/>
            <a:ext cx="24966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Cross-generator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7168"/>
            <a:ext cx="11055096" cy="42062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651" y="2487168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center_crop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4752" y="2487168"/>
            <a:ext cx="15353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542" y="2487168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1644" y="2487168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0.655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651" y="2907792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rescale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4752" y="2907792"/>
            <a:ext cx="15353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7542" y="2907792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1644" y="2907792"/>
            <a:ext cx="249665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0.563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584448"/>
            <a:ext cx="1105509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At 96.7 – 98.2 % train accuracy the network is close to memorizing its 3,600 images, so the modest in-domain number is a variance limit, not a capacity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97680"/>
            <a:ext cx="11055096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462272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141A2E"/>
                </a:solidFill>
                <a:latin typeface="Calibri"/>
              </a:rPr>
              <a:t>rescale fits its training set better, matches center_crop on held-out images of the same generator, and collapses only when the generator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30368"/>
            <a:ext cx="1105509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Doubling the epoch budget from 40 to 80 on three generators moved in-domain accuracy +0.020 and cross-generator −0.007. More training buys fit, and nothing in transfer.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0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 dirty="0">
                <a:solidFill>
                  <a:srgbClr val="D9484E"/>
                </a:solidFill>
                <a:latin typeface="Calibri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76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 dirty="0">
                <a:solidFill>
                  <a:srgbClr val="141A2E"/>
                </a:solidFill>
                <a:latin typeface="Cambria"/>
              </a:rPr>
              <a:t>Radially averaged spectra close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425696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B7691"/>
                </a:solidFill>
                <a:latin typeface="Calibri"/>
              </a:rPr>
              <a:t>Real minus fake, mean log₁₀ power above 0.35 cycles / pixel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91456"/>
            <a:ext cx="2606040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9377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1C7293"/>
                </a:solidFill>
                <a:latin typeface="Cambria"/>
              </a:rPr>
              <a:t>+0.256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949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center_crop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791456"/>
            <a:ext cx="2606040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49377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1C7293"/>
                </a:solidFill>
                <a:latin typeface="Cambria"/>
              </a:rPr>
              <a:t>+0.253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3949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random_crop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4791456"/>
            <a:ext cx="2606040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49377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D9484E"/>
                </a:solidFill>
                <a:latin typeface="Cambria"/>
              </a:rPr>
              <a:t>+0.075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53949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rescale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4791456"/>
            <a:ext cx="2606040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15984" y="49377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D9484E"/>
                </a:solidFill>
                <a:latin typeface="Cambria"/>
              </a:rPr>
              <a:t>+0.058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53949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pad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925312"/>
            <a:ext cx="1105509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1" i="0">
                <a:solidFill>
                  <a:srgbClr val="141A2E"/>
                </a:solidFill>
                <a:latin typeface="Calibri"/>
              </a:rPr>
              <a:t>Both resampling arms lose roughly three quarters of the high-frequency separation the crops retain. That is the mechanism behind the transfer collapse.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572768"/>
            <a:ext cx="10415016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SUMMARY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Three findings that survive our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22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1700784"/>
            <a:ext cx="72054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zero-parameter size rule beats every trained detector cross-generator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29968"/>
            <a:ext cx="72054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C4CBDC"/>
                </a:solidFill>
                <a:latin typeface="Calibri"/>
              </a:rPr>
              <a:t>So cross-generator numbers reported without an explicit size correction are largely uninterpretable.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871216"/>
            <a:ext cx="72054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correction is not a neutral preprocessing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0"/>
            <a:ext cx="72054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C4CBDC"/>
                </a:solidFill>
                <a:latin typeface="Calibri"/>
              </a:rPr>
              <a:t>Strategies preserving native pixels agree on generator difficulty (ρ = +0.964); resampling gives an unrelated ordering. A published ranking depends partly on a choice that is rarely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33087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4041648"/>
            <a:ext cx="72054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correction can raise accuracy while making the experiment worse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7205472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C4CBDC"/>
                </a:solidFill>
                <a:latin typeface="Calibri"/>
              </a:rPr>
              <a:t>pad trades the size cue for a border cue</a:t>
            </a:r>
            <a:r>
              <a:rPr lang="en-US" sz="1400" b="0" i="0" dirty="0">
                <a:solidFill>
                  <a:srgbClr val="C4CBDC"/>
                </a:solidFill>
                <a:latin typeface="Calibri"/>
              </a:rPr>
              <a:t>, </a:t>
            </a:r>
            <a:r>
              <a:rPr sz="1400" b="0" i="0" dirty="0">
                <a:solidFill>
                  <a:srgbClr val="C4CBDC"/>
                </a:solidFill>
                <a:latin typeface="Calibri"/>
              </a:rPr>
              <a:t>found by attribution in all seven of its runs, and in none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00784"/>
            <a:ext cx="3310128" cy="1572768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1883664"/>
            <a:ext cx="2871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D9484E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194560"/>
            <a:ext cx="2871216" cy="10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Treat size equalization</a:t>
            </a:r>
          </a:p>
          <a:p>
            <a:pPr algn="l">
              <a:lnSpc>
                <a:spcPct val="126000"/>
              </a:lnSpc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as a first-class</a:t>
            </a:r>
          </a:p>
          <a:p>
            <a:pPr algn="l">
              <a:lnSpc>
                <a:spcPct val="126000"/>
              </a:lnSpc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methodological choice</a:t>
            </a:r>
            <a:r>
              <a:rPr lang="en-US" sz="1350" b="0" i="0" dirty="0">
                <a:solidFill>
                  <a:srgbClr val="FFFFFF"/>
                </a:solidFill>
                <a:latin typeface="Calibri"/>
              </a:rPr>
              <a:t> -</a:t>
            </a:r>
            <a:endParaRPr sz="135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6000"/>
              </a:lnSpc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and report more than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01568"/>
            <a:ext cx="3310128" cy="1042415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3566160"/>
            <a:ext cx="2871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C4CBDC"/>
                </a:solidFill>
                <a:latin typeface="Calibri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858768"/>
            <a:ext cx="28712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n = 7 generators. Two seeds.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ADM anomaly unexplained.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94960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55955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C4CBDC"/>
                </a:solidFill>
                <a:latin typeface="Calibri"/>
              </a:rPr>
              <a:t>Code, run instructions, split definitions and every metrics.json from the 56 runs: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852160"/>
            <a:ext cx="6400800" cy="243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github.com/Ido-Josephsberg/deep-learning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F7EF0-8D09-AD5E-0974-7DC9C9F4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AF0DF-9BC3-FC3A-45D7-A34CE0AA818F}"/>
              </a:ext>
            </a:extLst>
          </p:cNvPr>
          <p:cNvSpPr txBox="1"/>
          <p:nvPr/>
        </p:nvSpPr>
        <p:spPr>
          <a:xfrm>
            <a:off x="517108" y="2657442"/>
            <a:ext cx="11157783" cy="771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9884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1790</Words>
  <Application>Microsoft Office PowerPoint</Application>
  <PresentationFormat>מסך רחב</PresentationFormat>
  <Paragraphs>251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עידו יוספסברג</cp:lastModifiedBy>
  <cp:revision>39</cp:revision>
  <dcterms:created xsi:type="dcterms:W3CDTF">2013-01-27T09:14:16Z</dcterms:created>
  <dcterms:modified xsi:type="dcterms:W3CDTF">2026-08-29T16:35:32Z</dcterms:modified>
  <cp:category/>
</cp:coreProperties>
</file>